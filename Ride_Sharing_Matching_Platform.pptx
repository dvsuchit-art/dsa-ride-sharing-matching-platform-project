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 Quality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21A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Hungarian
(Exact)</c:v>
                  </c:pt>
                  <c:pt idx="1">
                    <c:v>Hopcroft-Karp
(Exact)</c:v>
                  </c:pt>
                  <c:pt idx="2">
                    <c:v>Greedy
(Approx.)</c:v>
                  </c:pt>
                  <c:pt idx="3">
                    <c:v>Randomized
Rounding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</c:v>
                </c:pt>
                <c:pt idx="1">
                  <c:v>96</c:v>
                </c:pt>
                <c:pt idx="2">
                  <c:v>88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21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0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FF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21A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Hungarian
(Exact)</c:v>
                  </c:pt>
                  <c:pt idx="1">
                    <c:v>Hopcroft-Karp
(Exact)</c:v>
                  </c:pt>
                  <c:pt idx="2">
                    <c:v>Greedy
(Approx.)</c:v>
                  </c:pt>
                  <c:pt idx="3">
                    <c:v>Randomized
Rounding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850</c:v>
                </c:pt>
                <c:pt idx="1">
                  <c:v>240</c:v>
                </c:pt>
                <c:pt idx="2">
                  <c:v>45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21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417320"/>
            <a:ext cx="365760" cy="3566160"/>
          </a:xfrm>
          <a:prstGeom prst="line">
            <a:avLst/>
          </a:prstGeom>
          <a:noFill/>
          <a:ln w="12700">
            <a:solidFill>
              <a:srgbClr val="2C37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1417320"/>
            <a:ext cx="1737360" cy="3566160"/>
          </a:xfrm>
          <a:prstGeom prst="line">
            <a:avLst/>
          </a:prstGeom>
          <a:noFill/>
          <a:ln w="12700">
            <a:solidFill>
              <a:srgbClr val="2C37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1417320"/>
            <a:ext cx="365760" cy="3566160"/>
          </a:xfrm>
          <a:prstGeom prst="line">
            <a:avLst/>
          </a:prstGeom>
          <a:noFill/>
          <a:ln w="12700">
            <a:solidFill>
              <a:srgbClr val="2C37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417320"/>
            <a:ext cx="1005840" cy="3566160"/>
          </a:xfrm>
          <a:prstGeom prst="line">
            <a:avLst/>
          </a:prstGeom>
          <a:noFill/>
          <a:ln w="12700">
            <a:solidFill>
              <a:srgbClr val="2C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1417320"/>
            <a:ext cx="365760" cy="3566160"/>
          </a:xfrm>
          <a:prstGeom prst="line">
            <a:avLst/>
          </a:prstGeom>
          <a:noFill/>
          <a:ln w="12700">
            <a:solidFill>
              <a:srgbClr val="2C37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1417320"/>
            <a:ext cx="1005840" cy="3566160"/>
          </a:xfrm>
          <a:prstGeom prst="line">
            <a:avLst/>
          </a:prstGeom>
          <a:noFill/>
          <a:ln w="12700">
            <a:solidFill>
              <a:srgbClr val="2C37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10344" y="1280160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10296144" y="1280160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10981944" y="1280160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9"/>
          <p:cNvSpPr/>
          <p:nvPr/>
        </p:nvSpPr>
        <p:spPr>
          <a:xfrm>
            <a:off x="9244584" y="48463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9930384" y="48463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16184" y="48463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01984" y="48463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CAPSTONE PROJECT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18288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 Sharing Matching Platform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 real-time driver-rider matching engine behind Uber &amp; Ola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5120640" cy="0"/>
          </a:xfrm>
          <a:prstGeom prst="line">
            <a:avLst/>
          </a:prstGeom>
          <a:noFill/>
          <a:ln w="12700">
            <a:solidFill>
              <a:srgbClr val="3A4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60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Principal Engineer's View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graph theory, optimization, and system design applied to a problem run at planetary scale.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Yash Bandipally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Design &amp; Analysis of Algorithms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driver-rider matching is a genuinely hard algorithmic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550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8424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pair thousands of live riders with the best available driver, under seconds of latency, while conditions change every second.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7648" y="1709928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63276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6550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Explosion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9440" y="198424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riders and M drivers, brute-force pairing is O(N!·M!) — exact optimization must be reduced to tractable graph/flow formulations.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108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0540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rider wait time AND driver idle distance AND balance fairness across drivers — objectives that conflict with each other.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907792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27648" y="310896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0540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+ Dynamic Graph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9440" y="338328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bipartite graph of riders/drivers is never static — nodes appear, disappear, and move every few seconds, city-wide.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 Matching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A CTO's 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algorithm sits in the live request path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A245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03120"/>
            <a:ext cx="1691640" cy="54864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58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/ Driver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7706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+ ride requests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2651760"/>
            <a:ext cx="308610" cy="0"/>
          </a:xfrm>
          <a:prstGeom prst="line">
            <a:avLst/>
          </a:prstGeom>
          <a:noFill/>
          <a:ln w="19050">
            <a:solidFill>
              <a:srgbClr val="5A649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23210" y="196596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A245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60370" y="2103120"/>
            <a:ext cx="1691640" cy="54864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914650" y="2258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Geo-Indexing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14650" y="27706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Quadtree / geohash grid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89170" y="2651760"/>
            <a:ext cx="308610" cy="0"/>
          </a:xfrm>
          <a:prstGeom prst="line">
            <a:avLst/>
          </a:prstGeom>
          <a:noFill/>
          <a:ln w="19050">
            <a:solidFill>
              <a:srgbClr val="5A64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97780" y="196596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A2452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4940" y="2103120"/>
            <a:ext cx="1691640" cy="54864"/>
          </a:xfrm>
          <a:prstGeom prst="roundRect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5189220" y="2258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89220" y="27706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Flow · Assignment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63740" y="2651760"/>
            <a:ext cx="308610" cy="0"/>
          </a:xfrm>
          <a:prstGeom prst="line">
            <a:avLst/>
          </a:prstGeom>
          <a:noFill/>
          <a:ln w="19050">
            <a:solidFill>
              <a:srgbClr val="5A64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72350" y="196596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A2452"/>
          </a:solidFill>
          <a:ln w="19050">
            <a:solidFill>
              <a:srgbClr val="F2B4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9510" y="2103120"/>
            <a:ext cx="1691640" cy="54864"/>
          </a:xfrm>
          <a:prstGeom prst="roundRect">
            <a:avLst/>
          </a:prstGeom>
          <a:solidFill>
            <a:srgbClr val="F2B441"/>
          </a:solidFill>
          <a:ln/>
        </p:spPr>
      </p:sp>
      <p:sp>
        <p:nvSpPr>
          <p:cNvPr id="21" name="Text 19"/>
          <p:cNvSpPr/>
          <p:nvPr/>
        </p:nvSpPr>
        <p:spPr>
          <a:xfrm>
            <a:off x="7463790" y="2258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Layer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63790" y="27706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338310" y="2651760"/>
            <a:ext cx="308610" cy="0"/>
          </a:xfrm>
          <a:prstGeom prst="line">
            <a:avLst/>
          </a:prstGeom>
          <a:noFill/>
          <a:ln w="19050">
            <a:solidFill>
              <a:srgbClr val="5A649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46920" y="196596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A245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0" y="2103120"/>
            <a:ext cx="1691640" cy="54864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2258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38360" y="27706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match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both apps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54480" y="3749040"/>
            <a:ext cx="8778240" cy="0"/>
          </a:xfrm>
          <a:prstGeom prst="line">
            <a:avLst/>
          </a:prstGeom>
          <a:noFill/>
          <a:ln w="12700">
            <a:solidFill>
              <a:srgbClr val="3A4578"/>
            </a:solidFill>
            <a:prstDash val="dash"/>
            <a:headEnd type="triangl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554480" y="384048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feedback: surge state ↔ supply/demand signal recomputed every few seconds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A245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690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056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concurrent trip requests/day, sharded by city/zone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45262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A2452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4690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17720" y="5056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 end-to-end match decision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45262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A2452"/>
          </a:solidFill>
          <a:ln/>
        </p:spPr>
      </p:sp>
      <p:sp>
        <p:nvSpPr>
          <p:cNvPr id="37" name="Text 35"/>
          <p:cNvSpPr/>
          <p:nvPr/>
        </p:nvSpPr>
        <p:spPr>
          <a:xfrm>
            <a:off x="8458200" y="4690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58200" y="5056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matching under retries &amp; network partitions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 Matching Platform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Under the Hood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techniques, each solving a different facet of the matching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77440" cy="457200"/>
          </a:xfrm>
          <a:prstGeom prst="rect">
            <a:avLst/>
          </a:prstGeom>
          <a:solidFill>
            <a:srgbClr val="121A3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508760"/>
            <a:ext cx="2468880" cy="457200"/>
          </a:xfrm>
          <a:prstGeom prst="rect">
            <a:avLst/>
          </a:prstGeom>
          <a:solidFill>
            <a:srgbClr val="121A3E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0" y="1508760"/>
            <a:ext cx="1737360" cy="457200"/>
          </a:xfrm>
          <a:prstGeom prst="rect">
            <a:avLst/>
          </a:prstGeom>
          <a:solidFill>
            <a:srgbClr val="121A3E"/>
          </a:solidFill>
          <a:ln/>
        </p:spPr>
      </p:sp>
      <p:sp>
        <p:nvSpPr>
          <p:cNvPr id="9" name="Text 7"/>
          <p:cNvSpPr/>
          <p:nvPr/>
        </p:nvSpPr>
        <p:spPr>
          <a:xfrm>
            <a:off x="553212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0" y="1508760"/>
            <a:ext cx="4480560" cy="457200"/>
          </a:xfrm>
          <a:prstGeom prst="rect">
            <a:avLst/>
          </a:prstGeom>
          <a:solidFill>
            <a:srgbClr val="121A3E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65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26080" y="196596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Hopcroft-Karp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196596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965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O(E√V)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196596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9659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one batch of riders ↔ drivers optimally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2377440" cy="777240"/>
          </a:xfrm>
          <a:prstGeom prst="rect">
            <a:avLst/>
          </a:prstGeom>
          <a:solidFill>
            <a:srgbClr val="EEF1F7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Flow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26080" y="2743200"/>
            <a:ext cx="2468880" cy="777240"/>
          </a:xfrm>
          <a:prstGeom prst="rect">
            <a:avLst/>
          </a:prstGeom>
          <a:solidFill>
            <a:srgbClr val="EEF1F7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Dinic's Algorithm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2743200"/>
            <a:ext cx="1737360" cy="777240"/>
          </a:xfrm>
          <a:prstGeom prst="rect">
            <a:avLst/>
          </a:prstGeom>
          <a:solidFill>
            <a:srgbClr val="EEF1F7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743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O(V²E)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2743200"/>
            <a:ext cx="4480560" cy="777240"/>
          </a:xfrm>
          <a:prstGeom prst="rect">
            <a:avLst/>
          </a:prstGeom>
          <a:solidFill>
            <a:srgbClr val="EEF1F7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2743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driver supply across city zones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Problem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926080" y="352044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3520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4960" y="352044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5204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O(V³)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352044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cost (ETA + fare) of a batch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297680"/>
            <a:ext cx="2377440" cy="777240"/>
          </a:xfrm>
          <a:prstGeom prst="rect">
            <a:avLst/>
          </a:prstGeom>
          <a:solidFill>
            <a:srgbClr val="EEF1F7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926080" y="4297680"/>
            <a:ext cx="2468880" cy="777240"/>
          </a:xfrm>
          <a:prstGeom prst="rect">
            <a:avLst/>
          </a:prstGeom>
          <a:solidFill>
            <a:srgbClr val="EEF1F7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/ Local Search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94960" y="4297680"/>
            <a:ext cx="1737360" cy="777240"/>
          </a:xfrm>
          <a:prstGeom prst="rect">
            <a:avLst/>
          </a:prstGeom>
          <a:solidFill>
            <a:srgbClr val="EEF1F7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297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O(E log V)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32320" y="4297680"/>
            <a:ext cx="4480560" cy="777240"/>
          </a:xfrm>
          <a:prstGeom prst="rect">
            <a:avLst/>
          </a:prstGeom>
          <a:solidFill>
            <a:srgbClr val="EEF1F7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42976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 matches when latency is critical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07492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74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926080" y="507492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63240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Rounding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94960" y="507492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074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O(E)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132320" y="507492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5074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ties fairly, distribute load across drivers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 Matching Platform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Breakdown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feature maps back to a concrete algorithm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67335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Assignment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83480" y="1737360"/>
            <a:ext cx="0" cy="73152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673352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/ lowest-cost driver for a single ride request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15400" y="1737360"/>
            <a:ext cx="0" cy="73152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67335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 + Greedy heuristic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063240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90779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Matching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83480" y="2971800"/>
            <a:ext cx="0" cy="73152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907792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multiple riders sharing overlapping routes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2971800"/>
            <a:ext cx="0" cy="73152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290779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Bipartite Matching + Approximation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14223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983480" y="4206240"/>
            <a:ext cx="0" cy="73152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4142232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pickup + drop sequencing for driver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15400" y="4206240"/>
            <a:ext cx="0" cy="73152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414223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/ A* Shortest Path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532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554480" y="537667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983480" y="5440680"/>
            <a:ext cx="0" cy="73152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5376672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multiplier from live demand/supply imbalance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15400" y="5440680"/>
            <a:ext cx="0" cy="73152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537667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Max Flow saturation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 Matching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vs. Approximate vs. Randomized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engineering tradeoff: match quality vs. response latency at 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Quality (%)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at 10k requests (ms)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080760" y="192024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44068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121A3E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call: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exact algorithms for small/offline batches, fall back to approximation once queue size or latency budget is exceeded.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 Matching Platform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 &amp; Success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prove the algorithms actually 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Methodology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07568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city grid simulation (configurable riders/drivers/zones)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8986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82549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at 1k → 10k → 100k concurrent requests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64845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57530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exact vs. approximate vs. randomized on identical inputs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3982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98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432511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real-world-shaped demand curves (peak/off-peak)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0760" y="192024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9202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01000" y="19202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requests matched within SLA window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260604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6060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Wait Time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01000" y="26060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Rider-perceived time-to-pickup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29184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2918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Runtime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01000" y="32918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/ p99 matching latency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397764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9776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Index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01000" y="39776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trips assigned across drivers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466344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46634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Ceiling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01000" y="46634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graph size before latency SLA breaks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 Matching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current build to a production-grade dispatch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052560" y="4572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1A2452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0" y="502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05256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COVERAGE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A245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82296" cy="105156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476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Core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matching, assignment problem, single-ride driver assignment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281160" y="217627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281160" y="21762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0837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A245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008376"/>
            <a:ext cx="82296" cy="1051560"/>
          </a:xfrm>
          <a:prstGeom prst="roundRect">
            <a:avLst/>
          </a:prstGeom>
          <a:solidFill>
            <a:srgbClr val="FF6B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272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Scale Features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5112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matching, max-flow zone balancing, dynamic pricing signal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81160" y="33558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3355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A245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87952"/>
            <a:ext cx="82296" cy="1051560"/>
          </a:xfrm>
          <a:prstGeom prst="roundRect">
            <a:avLst/>
          </a:prstGeom>
          <a:solidFill>
            <a:srgbClr val="F2B44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30682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Approximation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6908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+ randomized algorithms benchmarked against exact solvers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81160" y="4535424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453542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6752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A2452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367528"/>
            <a:ext cx="82296" cy="1051560"/>
          </a:xfrm>
          <a:prstGeom prst="roundRect">
            <a:avLst/>
          </a:prstGeom>
          <a:solidFill>
            <a:srgbClr val="8A93B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486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Beyond DSA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58704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ML-ranked candidate drivers, reinforcement-learning dispatch, multi-city sharding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81160" y="57150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8A93B8"/>
          </a:solidFill>
          <a:ln/>
        </p:spPr>
      </p:sp>
      <p:sp>
        <p:nvSpPr>
          <p:cNvPr id="30" name="Text 28"/>
          <p:cNvSpPr/>
          <p:nvPr/>
        </p:nvSpPr>
        <p:spPr>
          <a:xfrm>
            <a:off x="9281160" y="5715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 Matching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2026-08-05T03:39:31Z</dcterms:created>
  <dcterms:modified xsi:type="dcterms:W3CDTF">2026-08-05T03:39:31Z</dcterms:modified>
</cp:coreProperties>
</file>