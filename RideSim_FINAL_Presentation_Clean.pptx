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FFB51C"/>
            </a:solidFill>
          </c:spPr>
          <c:cat>
            <c:strRef>
              <c:f>Sheet1!$A$2:$A$7</c:f>
              <c:strCache>
                <c:ptCount val="6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30</c:v>
                </c:pt>
                <c:pt idx="5">
                  <c:v>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18.03</c:v>
                </c:pt>
                <c:pt idx="1">
                  <c:v>23.52</c:v>
                </c:pt>
                <c:pt idx="2">
                  <c:v>29.26</c:v>
                </c:pt>
                <c:pt idx="3">
                  <c:v>33.62</c:v>
                </c:pt>
                <c:pt idx="4">
                  <c:v>71.27</c:v>
                </c:pt>
                <c:pt idx="5">
                  <c:v>151.92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Optimal</c:v>
                </c:pt>
              </c:strCache>
            </c:strRef>
          </c:tx>
          <c:spPr>
            <a:solidFill>
              <a:srgbClr val="27C9B8"/>
            </a:solidFill>
          </c:spPr>
          <c:cat>
            <c:strRef>
              <c:f>Sheet1!$A$2:$A$7</c:f>
              <c:strCache>
                <c:ptCount val="6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30</c:v>
                </c:pt>
                <c:pt idx="5">
                  <c:v>100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16.04</c:v>
                </c:pt>
                <c:pt idx="1">
                  <c:v>20.53</c:v>
                </c:pt>
                <c:pt idx="2">
                  <c:v>25.04</c:v>
                </c:pt>
                <c:pt idx="3">
                  <c:v>28.44</c:v>
                </c:pt>
                <c:pt idx="4">
                  <c:v>55.97</c:v>
                </c:pt>
                <c:pt idx="5">
                  <c:v>110.19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DSA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24128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F1F4F7"/>
                </a:solidFill>
                <a:latin typeface="Aptos"/>
              </a:rPr>
              <a:t>RideSim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9DA8B7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RIDESIM  ·  DSA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44752"/>
            <a:ext cx="77724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27C9B8"/>
                </a:solidFill>
                <a:latin typeface="Aptos"/>
              </a:rPr>
              <a:t>Driver–Rider Matching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68580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9DA8B7"/>
                </a:solidFill>
                <a:latin typeface="Aptos"/>
              </a:rPr>
              <a:t>Final implementation and simulation showcase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20"/>
            <a:ext cx="10835640" cy="1691640"/>
          </a:xfrm>
          <a:prstGeom prst="roundRect">
            <a:avLst/>
          </a:prstGeom>
          <a:solidFill>
            <a:srgbClr val="1E252E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36392"/>
            <a:ext cx="12344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FFB51C"/>
                </a:solidFill>
                <a:latin typeface="Aptos"/>
              </a:rPr>
              <a:t>GREEDY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136392"/>
            <a:ext cx="29260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F1F4F7"/>
                </a:solidFill>
                <a:latin typeface="Aptos"/>
              </a:rPr>
              <a:t>Nearest-neighbour · O(n²)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136392"/>
            <a:ext cx="14173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27C9B8"/>
                </a:solidFill>
                <a:latin typeface="Aptos"/>
              </a:rPr>
              <a:t>HUNGARIAN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136392"/>
            <a:ext cx="37947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F1F4F7"/>
                </a:solidFill>
                <a:latin typeface="Aptos"/>
              </a:rPr>
              <a:t>Exact minimum-cost assignment · O(n³)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67328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9DA8B7"/>
                </a:solidFill>
                <a:latin typeface="Aptos"/>
              </a:rPr>
              <a:t>Same drivers + same riders → two algorithms → measurable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54864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9DA8B7"/>
                </a:solidFill>
                <a:latin typeface="Aptos"/>
              </a:rPr>
              <a:t>Yash Bandipally  ·  Design &amp; Analysis of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24128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F1F4F7"/>
                </a:solidFill>
                <a:latin typeface="Aptos"/>
              </a:rPr>
              <a:t>Why matching quality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9DA8B7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RIDESIM  ·  DSA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443484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1031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B51C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452628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1F4F7"/>
                </a:solidFill>
                <a:latin typeface="Aptos"/>
              </a:rPr>
              <a:t>Match drivers to riders while keeping total pickup distance 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4434840" cy="2148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1F4F7"/>
                </a:solidFill>
                <a:latin typeface="Aptos"/>
              </a:defRPr>
            </a:pPr>
            <a:r>
              <a:t>• Every driver can be paired with one rider in the batch.</a:t>
            </a:r>
          </a:p>
          <a:p>
            <a:pPr>
              <a:spcAft>
                <a:spcPts val="900"/>
              </a:spcAft>
              <a:defRPr sz="1200">
                <a:solidFill>
                  <a:srgbClr val="F1F4F7"/>
                </a:solidFill>
                <a:latin typeface="Aptos"/>
              </a:defRPr>
            </a:pPr>
            <a:r>
              <a:t>• The assignment is represented as a driver → rider cost matrix.</a:t>
            </a:r>
          </a:p>
          <a:p>
            <a:pPr>
              <a:spcAft>
                <a:spcPts val="900"/>
              </a:spcAft>
              <a:defRPr sz="1200">
                <a:solidFill>
                  <a:srgbClr val="F1F4F7"/>
                </a:solidFill>
                <a:latin typeface="Aptos"/>
              </a:defRPr>
            </a:pPr>
            <a:r>
              <a:t>• Greedy makes fast local decisions.</a:t>
            </a:r>
          </a:p>
          <a:p>
            <a:pPr>
              <a:spcAft>
                <a:spcPts val="900"/>
              </a:spcAft>
              <a:defRPr sz="1200">
                <a:solidFill>
                  <a:srgbClr val="F1F4F7"/>
                </a:solidFill>
                <a:latin typeface="Aptos"/>
              </a:defRPr>
            </a:pPr>
            <a:r>
              <a:t>• Hungarian searches for the global minimum-cost assignment.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325880"/>
            <a:ext cx="5440680" cy="443484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25603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27C9B8"/>
                </a:solidFill>
                <a:latin typeface="Aptos"/>
              </a:rPr>
              <a:t>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29968"/>
            <a:ext cx="448056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1F4F7"/>
                </a:solidFill>
                <a:latin typeface="Aptos"/>
              </a:rPr>
              <a:t>Build and evaluate both approaches on identical scenarios.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3063240"/>
            <a:ext cx="2057400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3172968"/>
            <a:ext cx="174650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27C9B8"/>
                </a:solidFill>
                <a:latin typeface="Aptos"/>
              </a:rPr>
              <a:t>FAIR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3666744"/>
            <a:ext cx="1746504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SAME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59368" y="3063240"/>
            <a:ext cx="2240280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6" y="3172968"/>
            <a:ext cx="192938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27C9B8"/>
                </a:solidFill>
                <a:latin typeface="Aptos"/>
              </a:rPr>
              <a:t>MEASURABLE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3666744"/>
            <a:ext cx="1929384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DISTANCE +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343400"/>
            <a:ext cx="45262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9DA8B7"/>
                </a:solidFill>
                <a:latin typeface="Aptos"/>
              </a:rPr>
              <a:t>The browser simulation makes the difference visible; the Python implementation provides the actual algorithms and benchmark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02 ·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24128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F1F4F7"/>
                </a:solidFill>
                <a:latin typeface="Aptos"/>
              </a:rPr>
              <a:t>Two assignment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9DA8B7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RIDESIM  ·  DSA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47548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700" b="1">
                <a:solidFill>
                  <a:srgbClr val="FFB51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27632"/>
            <a:ext cx="38862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700" b="1">
                <a:solidFill>
                  <a:srgbClr val="F1F4F7"/>
                </a:solidFill>
                <a:latin typeface="Aptos"/>
              </a:rPr>
              <a:t>Greedy nearest-neighbour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480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9DA8B7"/>
                </a:solidFill>
                <a:latin typeface="Aptos"/>
              </a:rPr>
              <a:t>For each driver, select the closest rider that remains unassigned.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005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438912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F1F4F7"/>
                </a:solidFill>
                <a:latin typeface="Aptos"/>
              </a:rPr>
              <a:t>1. Find closest available rider
2. Assign the pair
3. Remove the rider
4. Continue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663440"/>
            <a:ext cx="2011680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4773168"/>
            <a:ext cx="170078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FFB51C"/>
                </a:solidFill>
                <a:latin typeface="Aptos"/>
              </a:rPr>
              <a:t>O(n²)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7" y="5266944"/>
            <a:ext cx="1700784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TIME COMPLEXITY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663440"/>
            <a:ext cx="2011680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4773168"/>
            <a:ext cx="170078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FFB51C"/>
                </a:solidFill>
                <a:latin typeface="Aptos"/>
              </a:rPr>
              <a:t>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5266944"/>
            <a:ext cx="1700784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LOCAL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325880"/>
            <a:ext cx="5440680" cy="452628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27632"/>
            <a:ext cx="47548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700" b="1">
                <a:solidFill>
                  <a:srgbClr val="27C9B8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1627632"/>
            <a:ext cx="416052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700" b="1">
                <a:solidFill>
                  <a:srgbClr val="F1F4F7"/>
                </a:solidFill>
                <a:latin typeface="Aptos"/>
              </a:rPr>
              <a:t>Kuhn–Munkres / Hungarian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148840"/>
            <a:ext cx="4480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9DA8B7"/>
                </a:solidFill>
                <a:latin typeface="Aptos"/>
              </a:rPr>
              <a:t>Find the one-to-one assignment with the minimum total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971800"/>
            <a:ext cx="1005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273552"/>
            <a:ext cx="438912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F1F4F7"/>
                </a:solidFill>
                <a:latin typeface="Aptos"/>
              </a:rPr>
              <a:t>1. Build cost matrix
2. Use potentials + augmenting paths
3. Produce optimal assignment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4663440"/>
            <a:ext cx="2011680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4773168"/>
            <a:ext cx="170078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27C9B8"/>
                </a:solidFill>
                <a:latin typeface="Aptos"/>
              </a:rPr>
              <a:t>O(n³)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5266944"/>
            <a:ext cx="1700784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TIME COMPLEXITY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13648" y="4663440"/>
            <a:ext cx="2240280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4773168"/>
            <a:ext cx="192938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27C9B8"/>
                </a:solidFill>
                <a:latin typeface="Aptos"/>
              </a:rPr>
              <a:t>OPTIMAL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5266944"/>
            <a:ext cx="1929384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GLOBAL 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03 ·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24128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F1F4F7"/>
                </a:solidFill>
                <a:latin typeface="Aptos"/>
              </a:rPr>
              <a:t>Python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9DA8B7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RIDESIM  ·  DSA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66360" cy="96012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72184"/>
            <a:ext cx="16002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B51C"/>
                </a:solidFill>
                <a:latin typeface="Aptos"/>
              </a:rPr>
              <a:t>models.py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19656"/>
            <a:ext cx="4663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F1F4F7"/>
                </a:solidFill>
                <a:latin typeface="Aptos"/>
              </a:rPr>
              <a:t>Driver, Rider,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96012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72184"/>
            <a:ext cx="16002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B51C"/>
                </a:solidFill>
                <a:latin typeface="Aptos"/>
              </a:rPr>
              <a:t>cost.py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19656"/>
            <a:ext cx="4663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F1F4F7"/>
                </a:solidFill>
                <a:latin typeface="Aptos"/>
              </a:rPr>
              <a:t>Euclidean cost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32888"/>
            <a:ext cx="5166360" cy="96012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679192"/>
            <a:ext cx="16002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B51C"/>
                </a:solidFill>
                <a:latin typeface="Aptos"/>
              </a:rPr>
              <a:t>greedy.py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026664"/>
            <a:ext cx="4663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F1F4F7"/>
                </a:solidFill>
                <a:latin typeface="Aptos"/>
              </a:rPr>
              <a:t>Nearest-neighbour solver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32888"/>
            <a:ext cx="5166360" cy="96012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79192"/>
            <a:ext cx="16002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27C9B8"/>
                </a:solidFill>
                <a:latin typeface="Aptos"/>
              </a:rPr>
              <a:t>hungarian.py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026664"/>
            <a:ext cx="4663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F1F4F7"/>
                </a:solidFill>
                <a:latin typeface="Aptos"/>
              </a:rPr>
              <a:t>Exact assignment solver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39896"/>
            <a:ext cx="5166360" cy="96012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86200"/>
            <a:ext cx="16002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B51C"/>
                </a:solidFill>
                <a:latin typeface="Aptos"/>
              </a:rPr>
              <a:t>engine.py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33672"/>
            <a:ext cx="4663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F1F4F7"/>
                </a:solidFill>
                <a:latin typeface="Aptos"/>
              </a:rPr>
              <a:t>Scenario comparison + benchmarks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39896"/>
            <a:ext cx="5166360" cy="96012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86200"/>
            <a:ext cx="16002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B51C"/>
                </a:solidFill>
                <a:latin typeface="Aptos"/>
              </a:rPr>
              <a:t>server.py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33672"/>
            <a:ext cx="4663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F1F4F7"/>
                </a:solidFill>
                <a:latin typeface="Aptos"/>
              </a:rPr>
              <a:t>Local web server + JSON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10698480" cy="914400"/>
          </a:xfrm>
          <a:prstGeom prst="roundRect">
            <a:avLst/>
          </a:prstGeom>
          <a:solidFill>
            <a:srgbClr val="142B2B"/>
          </a:solidFill>
          <a:ln w="12700">
            <a:solidFill>
              <a:srgbClr val="2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257800"/>
            <a:ext cx="11430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27C9B8"/>
                </a:solidFill>
                <a:latin typeface="Aptos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184648"/>
            <a:ext cx="85953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F1F4F7"/>
                </a:solidFill>
                <a:latin typeface="Aptos"/>
              </a:rPr>
              <a:t>3/3 tests pass  ·  Python 3.13  ·  standard library only  ·  seeded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04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24128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F1F4F7"/>
                </a:solidFill>
                <a:latin typeface="Aptos"/>
              </a:rPr>
              <a:t>Benchmark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9DA8B7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RIDESIM  ·  DSA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2578608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344168"/>
            <a:ext cx="2267712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27C9B8"/>
                </a:solidFill>
                <a:latin typeface="Aptos"/>
              </a:rPr>
              <a:t>27.5%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1837944"/>
            <a:ext cx="2267712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DISTANCE SAVED AT N=100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6" y="1234440"/>
            <a:ext cx="2578608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1344168"/>
            <a:ext cx="2267712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27C9B8"/>
                </a:solidFill>
                <a:latin typeface="Aptos"/>
              </a:rPr>
              <a:t>11.0%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1837944"/>
            <a:ext cx="2267712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SAVED AT N=4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1234440"/>
            <a:ext cx="2578608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344168"/>
            <a:ext cx="2267712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27C9B8"/>
                </a:solidFill>
                <a:latin typeface="Aptos"/>
              </a:rPr>
              <a:t>1.4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837944"/>
            <a:ext cx="2267712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HUNGARIAN AT N=100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1234440"/>
            <a:ext cx="2578608" cy="93268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344168"/>
            <a:ext cx="2267712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FFB51C"/>
                </a:solidFill>
                <a:latin typeface="Aptos"/>
              </a:rPr>
              <a:t>0.19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837944"/>
            <a:ext cx="2267712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GREEDY AT N=100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2514600"/>
          <a:ext cx="73609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229600" y="2514600"/>
            <a:ext cx="3364992" cy="342900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788920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9DA8B7"/>
                </a:solidFill>
                <a:latin typeface="Aptos"/>
              </a:rPr>
              <a:t>KEY FINDING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82112"/>
            <a:ext cx="26517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1F4F7"/>
                </a:solidFill>
                <a:latin typeface="Aptos"/>
              </a:rPr>
              <a:t>The exact solver consistently reduces total pickup distance.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60520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9DA8B7"/>
                </a:solidFill>
                <a:latin typeface="Aptos"/>
              </a:rPr>
              <a:t>At n =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498848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700" b="1">
                <a:solidFill>
                  <a:srgbClr val="27C9B8"/>
                </a:solidFill>
                <a:latin typeface="Aptos"/>
              </a:rPr>
              <a:t>151.92 → 110.19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919472"/>
            <a:ext cx="2560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9DA8B7"/>
                </a:solidFill>
                <a:latin typeface="Aptos"/>
              </a:rPr>
              <a:t>Mean total pickup distance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321808"/>
            <a:ext cx="260604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9DA8B7"/>
                </a:solidFill>
                <a:latin typeface="Aptos"/>
              </a:rPr>
              <a:t>Benchmark: 300 random scenarios per fleet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05 ·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24128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F1F4F7"/>
                </a:solidFill>
                <a:latin typeface="Aptos"/>
              </a:rPr>
              <a:t>Live browser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9DA8B7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RIDESIM  ·  DSA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48056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13716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FB51C"/>
                </a:solidFill>
                <a:latin typeface="Aptos"/>
              </a:rPr>
              <a:t>GREEDY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45920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9DA8B7"/>
                </a:solidFill>
                <a:latin typeface="Aptos"/>
              </a:rPr>
              <a:t>Same scenario · local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31720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FB51C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31720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FB51C"/>
                </a:solidFill>
                <a:latin typeface="Aptos"/>
              </a:rPr>
              <a:t>R3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322576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2322576"/>
            <a:ext cx="1143000" cy="164592"/>
          </a:xfrm>
          <a:prstGeom prst="rect">
            <a:avLst/>
          </a:prstGeom>
          <a:solidFill>
            <a:srgbClr val="FFB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90087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90087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FB51C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90087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FB51C"/>
                </a:solidFill>
                <a:latin typeface="Aptos"/>
              </a:rPr>
              <a:t>R4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980944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2980944"/>
            <a:ext cx="1325880" cy="164592"/>
          </a:xfrm>
          <a:prstGeom prst="rect">
            <a:avLst/>
          </a:prstGeom>
          <a:solidFill>
            <a:srgbClr val="FFB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48456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48456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FB51C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48456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FB51C"/>
                </a:solidFill>
                <a:latin typeface="Aptos"/>
              </a:rPr>
              <a:t>R5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639312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14600" y="3639312"/>
            <a:ext cx="1508760" cy="164592"/>
          </a:xfrm>
          <a:prstGeom prst="rect">
            <a:avLst/>
          </a:prstGeom>
          <a:solidFill>
            <a:srgbClr val="FFB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06824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306824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FB51C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306824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FB51C"/>
                </a:solidFill>
                <a:latin typeface="Aptos"/>
              </a:rPr>
              <a:t>R1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297680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14600" y="4297680"/>
            <a:ext cx="1691640" cy="164592"/>
          </a:xfrm>
          <a:prstGeom prst="rect">
            <a:avLst/>
          </a:prstGeom>
          <a:solidFill>
            <a:srgbClr val="FFB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66360"/>
            <a:ext cx="1645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TOTAL DISTANCE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084064"/>
            <a:ext cx="22860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300" b="1">
                <a:solidFill>
                  <a:srgbClr val="FFB51C"/>
                </a:solidFill>
                <a:latin typeface="Aptos"/>
              </a:rPr>
              <a:t>scenario-dependent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1325880"/>
            <a:ext cx="5349240" cy="4480560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1627632"/>
            <a:ext cx="13716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27C9B8"/>
                </a:solidFill>
                <a:latin typeface="Aptos"/>
              </a:rPr>
              <a:t>OPTIMAL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1645920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9DA8B7"/>
                </a:solidFill>
                <a:latin typeface="Aptos"/>
              </a:rPr>
              <a:t>Same scenario · global assignment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2331720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2331720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7C9B8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2331720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7C9B8"/>
                </a:solidFill>
                <a:latin typeface="Aptos"/>
              </a:rPr>
              <a:t>R4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6448" y="2322576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6448" y="2322576"/>
            <a:ext cx="960120" cy="164592"/>
          </a:xfrm>
          <a:prstGeom prst="rect">
            <a:avLst/>
          </a:prstGeom>
          <a:solidFill>
            <a:srgbClr val="27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2990087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2990087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7C9B8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2990087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7C9B8"/>
                </a:solidFill>
                <a:latin typeface="Aptos"/>
              </a:rPr>
              <a:t>R5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980944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56448" y="2980944"/>
            <a:ext cx="1069848" cy="164592"/>
          </a:xfrm>
          <a:prstGeom prst="rect">
            <a:avLst/>
          </a:prstGeom>
          <a:solidFill>
            <a:srgbClr val="27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3648456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3648456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7C9B8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3648456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7C9B8"/>
                </a:solidFill>
                <a:latin typeface="Aptos"/>
              </a:rPr>
              <a:t>R1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56448" y="3639312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56448" y="3639312"/>
            <a:ext cx="1179576" cy="164592"/>
          </a:xfrm>
          <a:prstGeom prst="rect">
            <a:avLst/>
          </a:prstGeom>
          <a:solidFill>
            <a:srgbClr val="27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4306824"/>
            <a:ext cx="3657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1F4F7"/>
                </a:solidFill>
                <a:latin typeface="Aptos"/>
              </a:rPr>
              <a:t>D4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0608" y="4306824"/>
            <a:ext cx="27432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7C9B8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16368" y="4306824"/>
            <a:ext cx="457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27C9B8"/>
                </a:solidFill>
                <a:latin typeface="Aptos"/>
              </a:rPr>
              <a:t>R2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56448" y="4297680"/>
            <a:ext cx="2423160" cy="164592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56448" y="4297680"/>
            <a:ext cx="1289304" cy="164592"/>
          </a:xfrm>
          <a:prstGeom prst="rect">
            <a:avLst/>
          </a:prstGeom>
          <a:solidFill>
            <a:srgbClr val="27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5166360"/>
            <a:ext cx="1645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TOTAL DISTANCE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5084064"/>
            <a:ext cx="22860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300" b="1">
                <a:solidFill>
                  <a:srgbClr val="27C9B8"/>
                </a:solidFill>
                <a:latin typeface="Aptos"/>
              </a:rPr>
              <a:t>scenario-dependent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6144768"/>
            <a:ext cx="10332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9DA8B7"/>
                </a:solidFill>
                <a:latin typeface="Aptos"/>
              </a:rPr>
              <a:t>Controls: Fleet size · Seed · Match · New Scenario · Jackpot ×30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9DA8B7"/>
                </a:solidFill>
                <a:latin typeface="Aptos"/>
              </a:rPr>
              <a:t>06 · EVALUATION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24128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F1F4F7"/>
                </a:solidFill>
                <a:latin typeface="Aptos"/>
              </a:rPr>
              <a:t>How the comparison stays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9DA8B7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25603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9DA8B7"/>
                </a:solidFill>
                <a:latin typeface="Aptos"/>
              </a:rPr>
              <a:t>RIDESIM  ·  DSA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66360" cy="157276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0876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FFB51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527048"/>
            <a:ext cx="40690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1F4F7"/>
                </a:solidFill>
                <a:latin typeface="Aptos"/>
              </a:rPr>
              <a:t>SAME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938528"/>
            <a:ext cx="40233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9DA8B7"/>
                </a:solidFill>
                <a:latin typeface="Aptos"/>
              </a:rPr>
              <a:t>Both algorithms receive identical driver/rider positions.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166360" cy="157276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0876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FFB51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527048"/>
            <a:ext cx="40690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1F4F7"/>
                </a:solidFill>
                <a:latin typeface="Aptos"/>
              </a:rPr>
              <a:t>SAME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38528"/>
            <a:ext cx="40233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9DA8B7"/>
                </a:solidFill>
                <a:latin typeface="Aptos"/>
              </a:rPr>
              <a:t>Both optimize the same Euclidean pickup-distance matrix.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39"/>
            <a:ext cx="5166360" cy="157276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47472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27C9B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493008"/>
            <a:ext cx="40690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1F4F7"/>
                </a:solidFill>
                <a:latin typeface="Aptos"/>
              </a:rPr>
              <a:t>REPEATABLE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904487"/>
            <a:ext cx="40233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9DA8B7"/>
                </a:solidFill>
                <a:latin typeface="Aptos"/>
              </a:rPr>
              <a:t>The seed regenerates the same scenario.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91839"/>
            <a:ext cx="5166360" cy="1572768"/>
          </a:xfrm>
          <a:prstGeom prst="roundRect">
            <a:avLst/>
          </a:prstGeom>
          <a:solidFill>
            <a:srgbClr val="191F27"/>
          </a:solidFill>
          <a:ln w="12700">
            <a:solidFill>
              <a:srgbClr val="39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47472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27C9B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493008"/>
            <a:ext cx="40690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1F4F7"/>
                </a:solidFill>
                <a:latin typeface="Aptos"/>
              </a:rPr>
              <a:t>MEASURED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904487"/>
            <a:ext cx="40233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9DA8B7"/>
                </a:solidFill>
                <a:latin typeface="Aptos"/>
              </a:rPr>
              <a:t>Distance and runtime are recorded separately.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9240"/>
            <a:ext cx="10698480" cy="566928"/>
          </a:xfrm>
          <a:prstGeom prst="roundRect">
            <a:avLst/>
          </a:prstGeom>
          <a:solidFill>
            <a:srgbClr val="142B2B"/>
          </a:solidFill>
          <a:ln w="12700">
            <a:solidFill>
              <a:srgbClr val="2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19556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27C9B8"/>
                </a:solidFill>
                <a:latin typeface="Aptos"/>
              </a:rPr>
              <a:t>SUCCESS CRITERION  ·  Lower pickup distance while keeping exact matching practical for the tested batch sizes.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