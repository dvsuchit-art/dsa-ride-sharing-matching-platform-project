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Greedy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n=4</c:v>
                  </c:pt>
                  <c:pt idx="1">
                    <c:v>n=6</c:v>
                  </c:pt>
                  <c:pt idx="2">
                    <c:v>n=8</c:v>
                  </c:pt>
                  <c:pt idx="3">
                    <c:v>n=10</c:v>
                  </c:pt>
                  <c:pt idx="4">
                    <c:v>n=30</c:v>
                  </c:pt>
                  <c:pt idx="5">
                    <c:v>n=100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18.03</c:v>
                </c:pt>
                <c:pt idx="1">
                  <c:v>23.52</c:v>
                </c:pt>
                <c:pt idx="2">
                  <c:v>29.26</c:v>
                </c:pt>
                <c:pt idx="3">
                  <c:v>33.62</c:v>
                </c:pt>
                <c:pt idx="4">
                  <c:v>71.27</c:v>
                </c:pt>
                <c:pt idx="5">
                  <c:v>151.92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Optimal</c:v>
                </c:pt>
              </c:strCache>
            </c:strRef>
          </c:tx>
          <c:spPr>
            <a:solidFill>
              <a:srgbClr val="2FB6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n=4</c:v>
                  </c:pt>
                  <c:pt idx="1">
                    <c:v>n=6</c:v>
                  </c:pt>
                  <c:pt idx="2">
                    <c:v>n=8</c:v>
                  </c:pt>
                  <c:pt idx="3">
                    <c:v>n=10</c:v>
                  </c:pt>
                  <c:pt idx="4">
                    <c:v>n=30</c:v>
                  </c:pt>
                  <c:pt idx="5">
                    <c:v>n=100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16.04</c:v>
                </c:pt>
                <c:pt idx="1">
                  <c:v>20.53</c:v>
                </c:pt>
                <c:pt idx="2">
                  <c:v>25.04</c:v>
                </c:pt>
                <c:pt idx="3">
                  <c:v>28.44</c:v>
                </c:pt>
                <c:pt idx="4">
                  <c:v>55.97</c:v>
                </c:pt>
                <c:pt idx="5">
                  <c:v>110.19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1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2E343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8B93A1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8B93A1"/>
                    </a:solidFill>
                    <a:latin typeface="Arial"/>
                  </a:rPr>
                  <a:t>simulated km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B93A1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32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8B93A1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1E232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in one line: last review was the plan, this one is the working engine. Everything on the next four slides is running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deliverables, all in one codebase. The harness is the part that makes the rest provable.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greedy is ~7x faster but loses 27.5% distance at n=100, and the loss grows with n. Sub-2ms at n=100 means exact solving is affordable per batch.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browser. Run Match, then New Scenario a few times, then Jackpot x30 to show the gap opening up at scale. Hover any pair to show its distance.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feedback on which of these to prioritise. Pool matching is the biggest algorithmic step; zone balancing is the biggest system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spc="100" kern="0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</a:t>
            </a:r>
            <a:pPr indent="0" marL="0">
              <a:buNone/>
            </a:pPr>
            <a:r>
              <a:rPr lang="en-US" sz="6600" b="1" spc="100" kern="0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063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Driver–Rider Matching Engine  ·  Progress Review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68680" y="3703320"/>
            <a:ext cx="1005840" cy="3200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97764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complete — greedy and exact assignment built, benchmarked and demoable.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DSA CAPSTONE  ·  WEEK REVIEW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5943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YASH BANDIPALLY   ·   DESIGN &amp; ANALYSIS OF ALGORITHMS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shipped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1  ·  CORE MATCHING ENGINE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1024128"/>
          </a:xfrm>
          <a:prstGeom prst="roundRect">
            <a:avLst>
              <a:gd name="adj" fmla="val 535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928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model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22199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Euclidean driver→rider cost matrix, built per dispatch batch from live positions.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52928"/>
            <a:ext cx="10908792" cy="1024128"/>
          </a:xfrm>
          <a:prstGeom prst="roundRect">
            <a:avLst>
              <a:gd name="adj" fmla="val 535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12724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5409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baseline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83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Nearest-neighbour dispatch, one O(n) scan per driver. O(n²), never reconsiders.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014216"/>
            <a:ext cx="10908792" cy="1024128"/>
          </a:xfrm>
          <a:prstGeom prst="roundRect">
            <a:avLst>
              <a:gd name="adj" fmla="val 535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8853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1538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solver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4456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Kuhn–Munkres (Hungarian) with potentials + augmenting paths. O(n³), provably minimal.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175504"/>
            <a:ext cx="10908792" cy="1024128"/>
          </a:xfrm>
          <a:prstGeom prst="roundRect">
            <a:avLst>
              <a:gd name="adj" fmla="val 535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44982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76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harness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70585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RideSim: same scenario into both solvers, animated dispatch, per-pair distance log.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is fast. It is also wrong.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MEAN TOTAL PICKUP DISTANCE  ·  300 RANDOM SCENARIOS PER FLEET SIZE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691640"/>
            <a:ext cx="3685032" cy="914400"/>
          </a:xfrm>
          <a:prstGeom prst="roundRect">
            <a:avLst>
              <a:gd name="adj" fmla="val 6000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27.5%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240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saved at n=100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863840" y="2715768"/>
            <a:ext cx="3685032" cy="914400"/>
          </a:xfrm>
          <a:prstGeom prst="roundRect">
            <a:avLst>
              <a:gd name="adj" fmla="val 6000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2807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264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even at n=4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63840" y="3739896"/>
            <a:ext cx="3685032" cy="914400"/>
          </a:xfrm>
          <a:prstGeom prst="roundRect">
            <a:avLst>
              <a:gd name="adj" fmla="val 6000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092440" y="383133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1.4 ms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4288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Hungarian solve, n=100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863840" y="4764024"/>
            <a:ext cx="3685032" cy="914400"/>
          </a:xfrm>
          <a:prstGeom prst="roundRect">
            <a:avLst>
              <a:gd name="adj" fmla="val 6000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92440" y="48554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0.19 ms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092440" y="5312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solve, n=100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863840" y="59436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widens with fleet size — exactly where dispatch actually operates.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RideSim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SAME RIDERS, SAME DRIVERS — TWO ALGORITHMS, TWO OUTCOMES</a:t>
            </a:r>
            <a:endParaRPr lang="en-US" sz="1000" dirty="0"/>
          </a:p>
        </p:txBody>
      </p:sp>
      <p:pic>
        <p:nvPicPr>
          <p:cNvPr id="4" name="Image 0" descr="/home/claude/deck/pa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4208"/>
            <a:ext cx="10908792" cy="4443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B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2070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50" kern="0" dirty="0">
                <a:solidFill>
                  <a:srgbClr val="8B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PHASE 2  ·  FROM ONE BATCH TO A CITY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matching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788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riders with overlapping routes — batch bipartite matching plus an approximation layer.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08192" y="169164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36792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336792" y="237744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Max-flow zone balancing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36792" y="278892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Dinic on a zone graph to move idle supply toward demand before requests arrive.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1330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617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signal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0292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multiplier off max-flow saturation instead of a hand-tuned heuristic.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08192" y="393192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E232B"/>
          </a:solidFill>
          <a:ln w="12700">
            <a:solidFill>
              <a:srgbClr val="2E34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36792" y="41330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6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336792" y="46177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A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fallback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36792" y="502920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3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greedy↔exact on queue depth, so the SLA holds when the batch gets big.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2026-09-18T05:47:01Z</dcterms:created>
  <dcterms:modified xsi:type="dcterms:W3CDTF">2026-09-18T05:47:01Z</dcterms:modified>
</cp:coreProperties>
</file>